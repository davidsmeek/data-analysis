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7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70" r:id="rId6"/>
    <p:sldId id="271" r:id="rId7"/>
    <p:sldId id="263" r:id="rId8"/>
    <p:sldId id="264" r:id="rId9"/>
    <p:sldId id="265" r:id="rId10"/>
    <p:sldId id="27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E63FE7-6446-49F1-816B-733D69AFEB0D}" v="1237" dt="2025-09-03T15:33:56.4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5A00A1A-D68B-BC1A-34B7-D18C1C0040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517186-4045-D291-1C77-17D16BE0AA2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2C9D87-D637-455E-B3FF-A54BEEA5E9D7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62FD9D-0936-A68B-1D30-025261C46A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895AA-4F52-8B31-C318-9A54DA45DA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9A85CA-9952-4137-AB33-5CEA5BF3B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89088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3969EB-E0E1-43FE-B6C2-DF5065860DDC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74288C-5746-4328-88C6-6E0068A6F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82437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739F2-3902-4E3B-8A53-858C1E637BC5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FCE5F-ED2A-432C-AE10-07A92F71D3C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0079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99C75-C100-4F5D-B79C-6574BAAC4E3A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FCE5F-ED2A-432C-AE10-07A92F71D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911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00B98-B2AE-4ECA-811E-42833BA2FB13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FCE5F-ED2A-432C-AE10-07A92F71D3C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8068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02FD9-10F0-44CB-ABE5-183F5C4F68C6}" type="datetime1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FCE5F-ED2A-432C-AE10-07A92F71D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230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15E13-A017-4738-BB50-035D2BDD5761}" type="datetime1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FCE5F-ED2A-432C-AE10-07A92F71D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331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D1FD5-829C-4E09-9186-40CFB91DE8EE}" type="datetime1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FCE5F-ED2A-432C-AE10-07A92F71D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59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A4AAC-13BD-484A-92A8-47DB21022E7C}" type="datetime1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FCE5F-ED2A-432C-AE10-07A92F71D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151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75AE1E0-C3E1-43FE-AE7A-FEDB05C16C69}" type="datetime1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05FCE5F-ED2A-432C-AE10-07A92F71D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66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6FA51-FA61-4665-8CDD-EAF05DF70EA2}" type="datetime1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FCE5F-ED2A-432C-AE10-07A92F71D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22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3B509-17AD-483B-80D6-99980F70D2DD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FCE5F-ED2A-432C-AE10-07A92F71D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5DF6C-6ECE-40E4-B35B-D74C17AA4259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FCE5F-ED2A-432C-AE10-07A92F71D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518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120BC4E-BD0F-48CC-B8A0-D2565A979ADF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05FCE5F-ED2A-432C-AE10-07A92F71D3C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553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8A0FC-4CEA-1750-170F-57D70B7191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57873"/>
            <a:ext cx="12192000" cy="102446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Superhero U:</a:t>
            </a:r>
            <a:br>
              <a:rPr lang="en-US" dirty="0"/>
            </a:br>
            <a:r>
              <a:rPr lang="en-US" dirty="0"/>
              <a:t>Campaign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5B5227-FD07-F973-99EE-1B1460308B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12531" y="3482339"/>
            <a:ext cx="7766936" cy="1096899"/>
          </a:xfrm>
        </p:spPr>
        <p:txBody>
          <a:bodyPr/>
          <a:lstStyle/>
          <a:p>
            <a:pPr algn="ctr"/>
            <a:r>
              <a:rPr lang="en-US" dirty="0"/>
              <a:t>0408 DVT Group 16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07C3AE-6207-1C90-B554-E277D1F375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8468" y="417218"/>
            <a:ext cx="1851827" cy="277774"/>
          </a:xfrm>
          <a:prstGeom prst="rect">
            <a:avLst/>
          </a:prstGeom>
        </p:spPr>
      </p:pic>
      <p:pic>
        <p:nvPicPr>
          <p:cNvPr id="9" name="Picture 8" descr="A logo of a global shala&#10;&#10;AI-generated content may be incorrect.">
            <a:extLst>
              <a:ext uri="{FF2B5EF4-FFF2-40B4-BE49-F238E27FC236}">
                <a16:creationId xmlns:a16="http://schemas.microsoft.com/office/drawing/2014/main" id="{A92FBBEF-0150-3E01-EEBF-FF39269F58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1" t="38239" r="4091" b="39921"/>
          <a:stretch>
            <a:fillRect/>
          </a:stretch>
        </p:blipFill>
        <p:spPr>
          <a:xfrm>
            <a:off x="7932625" y="282075"/>
            <a:ext cx="1834873" cy="44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621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094C1-06AC-904B-1703-EF7B68B1D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62612-CF16-FA9E-8BC5-426E579CB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6488" y="1874917"/>
            <a:ext cx="2404663" cy="145075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 Ali Ahsan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dirty="0"/>
              <a:t>Team Lead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dirty="0"/>
              <a:t>Analysis and Planning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dirty="0"/>
              <a:t>Data Preprocessing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2F0A1B8-E12A-B8F9-1194-A1484D803830}"/>
              </a:ext>
            </a:extLst>
          </p:cNvPr>
          <p:cNvSpPr txBox="1">
            <a:spLocks/>
          </p:cNvSpPr>
          <p:nvPr/>
        </p:nvSpPr>
        <p:spPr>
          <a:xfrm>
            <a:off x="8121328" y="1874916"/>
            <a:ext cx="2404663" cy="1450757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 Shahith </a:t>
            </a:r>
            <a:r>
              <a:rPr lang="en-US" b="1" dirty="0" err="1"/>
              <a:t>Rabeek</a:t>
            </a:r>
            <a:endParaRPr lang="en-US" b="1" dirty="0"/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dirty="0"/>
              <a:t>Data Visualization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40E0769-3971-CC9D-EB84-333AE919F264}"/>
              </a:ext>
            </a:extLst>
          </p:cNvPr>
          <p:cNvSpPr txBox="1">
            <a:spLocks/>
          </p:cNvSpPr>
          <p:nvPr/>
        </p:nvSpPr>
        <p:spPr>
          <a:xfrm>
            <a:off x="1696486" y="4776431"/>
            <a:ext cx="2404663" cy="1450757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 Fahim Faysal Sabir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dirty="0">
                <a:ea typeface="Calibri"/>
                <a:cs typeface="Calibri"/>
              </a:rPr>
              <a:t>Documentation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A0D0B51-737F-C968-ECC3-6C973B0C20DB}"/>
              </a:ext>
            </a:extLst>
          </p:cNvPr>
          <p:cNvSpPr txBox="1">
            <a:spLocks/>
          </p:cNvSpPr>
          <p:nvPr/>
        </p:nvSpPr>
        <p:spPr>
          <a:xfrm>
            <a:off x="4924148" y="1874916"/>
            <a:ext cx="2404663" cy="1450757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 </a:t>
            </a:r>
            <a:r>
              <a:rPr lang="en-US" b="1" dirty="0" err="1"/>
              <a:t>Gundeti</a:t>
            </a:r>
            <a:r>
              <a:rPr lang="en-US" b="1" dirty="0"/>
              <a:t> Sai Abhinav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dirty="0">
                <a:ea typeface="Calibri"/>
                <a:cs typeface="Calibri"/>
              </a:rPr>
              <a:t>Documentation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7D7EAEC-D828-1BFC-8A88-EBA65FCA8A0D}"/>
              </a:ext>
            </a:extLst>
          </p:cNvPr>
          <p:cNvSpPr txBox="1">
            <a:spLocks/>
          </p:cNvSpPr>
          <p:nvPr/>
        </p:nvSpPr>
        <p:spPr>
          <a:xfrm>
            <a:off x="4914262" y="3428647"/>
            <a:ext cx="2404663" cy="1162433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 Mithila Rahman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dirty="0">
                <a:ea typeface="Calibri"/>
                <a:cs typeface="Calibri"/>
              </a:rPr>
              <a:t>Data Visualization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5391340-4863-5E3A-E82F-D8D75A38147C}"/>
              </a:ext>
            </a:extLst>
          </p:cNvPr>
          <p:cNvSpPr txBox="1">
            <a:spLocks/>
          </p:cNvSpPr>
          <p:nvPr/>
        </p:nvSpPr>
        <p:spPr>
          <a:xfrm>
            <a:off x="4893666" y="4776430"/>
            <a:ext cx="2404663" cy="1450757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 Samuel Welbeck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dirty="0">
                <a:ea typeface="Calibri"/>
                <a:cs typeface="Calibri"/>
              </a:rPr>
              <a:t>Data Preprocessing</a:t>
            </a:r>
            <a:endParaRPr lang="en-US" dirty="0"/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dirty="0"/>
              <a:t>Data Visualization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35FA658-156F-D746-E0C7-6C730FF2A864}"/>
              </a:ext>
            </a:extLst>
          </p:cNvPr>
          <p:cNvSpPr txBox="1">
            <a:spLocks/>
          </p:cNvSpPr>
          <p:nvPr/>
        </p:nvSpPr>
        <p:spPr>
          <a:xfrm>
            <a:off x="1681246" y="3429000"/>
            <a:ext cx="2404663" cy="1450757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 David Solomon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dirty="0"/>
              <a:t>Analysis and Planning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8F9AA2D-13D8-215B-BBA1-339C04C07E02}"/>
              </a:ext>
            </a:extLst>
          </p:cNvPr>
          <p:cNvSpPr txBox="1">
            <a:spLocks/>
          </p:cNvSpPr>
          <p:nvPr/>
        </p:nvSpPr>
        <p:spPr>
          <a:xfrm>
            <a:off x="8121328" y="3428646"/>
            <a:ext cx="2404663" cy="1450757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 Syed Abdullah Bin Ali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dirty="0"/>
              <a:t>Data Visualization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15E5A18-0F09-93B0-DF04-CD1FDE905348}"/>
              </a:ext>
            </a:extLst>
          </p:cNvPr>
          <p:cNvSpPr txBox="1">
            <a:spLocks/>
          </p:cNvSpPr>
          <p:nvPr/>
        </p:nvSpPr>
        <p:spPr>
          <a:xfrm>
            <a:off x="8121326" y="4776430"/>
            <a:ext cx="2404663" cy="1450757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 Tashinga Ncube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dirty="0"/>
              <a:t>Documentation</a:t>
            </a: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1959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group of cartoon characters in clothing&#10;&#10;AI-generated content may be incorrect.">
            <a:extLst>
              <a:ext uri="{FF2B5EF4-FFF2-40B4-BE49-F238E27FC236}">
                <a16:creationId xmlns:a16="http://schemas.microsoft.com/office/drawing/2014/main" id="{80325638-F4B5-19F2-DA57-6185B4AD35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519597"/>
            <a:ext cx="6492875" cy="3682282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6C698E6-DE16-E8BC-E290-43DC915FD0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1519597"/>
            <a:ext cx="3200400" cy="478560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285750" indent="-285750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Goal:</a:t>
            </a:r>
            <a:r>
              <a:rPr lang="en-US" sz="2000" dirty="0">
                <a:ea typeface="+mn-lt"/>
                <a:cs typeface="+mn-lt"/>
              </a:rPr>
              <a:t> Inspire innovation and inventiveness among youth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Focus:</a:t>
            </a:r>
            <a:r>
              <a:rPr lang="en-US" sz="2000" dirty="0">
                <a:ea typeface="+mn-lt"/>
                <a:cs typeface="+mn-lt"/>
              </a:rPr>
              <a:t> Empower imaginative minds to apply skills and creativity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Inspiration:</a:t>
            </a:r>
            <a:r>
              <a:rPr lang="en-US" sz="2000" dirty="0">
                <a:ea typeface="+mn-lt"/>
                <a:cs typeface="+mn-lt"/>
              </a:rPr>
              <a:t> Guided by the UN mission to “promote prosperity while protecting the planet”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Format:</a:t>
            </a:r>
            <a:r>
              <a:rPr lang="en-US" sz="2000" dirty="0">
                <a:ea typeface="+mn-lt"/>
                <a:cs typeface="+mn-lt"/>
              </a:rPr>
              <a:t> Competitive event for young talents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Impact:</a:t>
            </a:r>
            <a:r>
              <a:rPr lang="en-US" sz="2000" dirty="0">
                <a:ea typeface="+mn-lt"/>
                <a:cs typeface="+mn-lt"/>
              </a:rPr>
              <a:t> Equal and encouraging educational opportunities</a:t>
            </a:r>
            <a:endParaRPr lang="en-US" dirty="0"/>
          </a:p>
          <a:p>
            <a:endParaRPr lang="en-US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0FC0868-20D9-C73F-96E7-4EB91C795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36848"/>
            <a:ext cx="3200400" cy="882749"/>
          </a:xfrm>
        </p:spPr>
        <p:txBody>
          <a:bodyPr/>
          <a:lstStyle/>
          <a:p>
            <a:r>
              <a:rPr lang="en-US" dirty="0"/>
              <a:t>Superhero U</a:t>
            </a:r>
          </a:p>
        </p:txBody>
      </p:sp>
    </p:spTree>
    <p:extLst>
      <p:ext uri="{BB962C8B-B14F-4D97-AF65-F5344CB8AC3E}">
        <p14:creationId xmlns:p14="http://schemas.microsoft.com/office/powerpoint/2010/main" val="1192240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5BEC3-7336-8BC9-2E26-55937E103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6756638-E79F-96B4-2E71-1093466E09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1519597"/>
            <a:ext cx="3200400" cy="47856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F050202020403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The type of ad that </a:t>
            </a:r>
            <a:r>
              <a:rPr lang="en-US" sz="2000" b="1" dirty="0" err="1">
                <a:solidFill>
                  <a:schemeClr val="bg1"/>
                </a:solidFill>
                <a:ea typeface="+mn-lt"/>
                <a:cs typeface="+mn-lt"/>
              </a:rPr>
              <a:t>GlobalShala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used is a basic image ad, also known as a “</a:t>
            </a:r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Link Click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” ad</a:t>
            </a: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GlobalShala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placed ads targeting two different audiences, “</a:t>
            </a:r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students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” and “</a:t>
            </a:r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educators and principals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E4C7E24-8EDC-701C-3654-B138A7C3E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36848"/>
            <a:ext cx="3200400" cy="882749"/>
          </a:xfrm>
        </p:spPr>
        <p:txBody>
          <a:bodyPr/>
          <a:lstStyle/>
          <a:p>
            <a:r>
              <a:rPr lang="en-US" dirty="0"/>
              <a:t>Facebook Ads</a:t>
            </a:r>
          </a:p>
        </p:txBody>
      </p:sp>
      <p:pic>
        <p:nvPicPr>
          <p:cNvPr id="6" name="Content Placeholder 5" descr="A poster of a superhero&#10;&#10;AI-generated content may be incorrect.">
            <a:extLst>
              <a:ext uri="{FF2B5EF4-FFF2-40B4-BE49-F238E27FC236}">
                <a16:creationId xmlns:a16="http://schemas.microsoft.com/office/drawing/2014/main" id="{D44DF962-14F6-9651-A9A4-4912F53D7B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8137" y="731838"/>
            <a:ext cx="5257800" cy="5257800"/>
          </a:xfrm>
        </p:spPr>
      </p:pic>
    </p:spTree>
    <p:extLst>
      <p:ext uri="{BB962C8B-B14F-4D97-AF65-F5344CB8AC3E}">
        <p14:creationId xmlns:p14="http://schemas.microsoft.com/office/powerpoint/2010/main" val="1278667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091AF-8CFD-D32A-86A5-641B7F8C1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93D61-7B32-DADF-B4F8-7A596CEB1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Superhero U Ad Campaigns 1/2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7A1F313-8EC5-C6BE-9B28-E39E16B444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061029"/>
              </p:ext>
            </p:extLst>
          </p:nvPr>
        </p:nvGraphicFramePr>
        <p:xfrm>
          <a:off x="1183207" y="1994870"/>
          <a:ext cx="9886546" cy="2825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2976">
                  <a:extLst>
                    <a:ext uri="{9D8B030D-6E8A-4147-A177-3AD203B41FA5}">
                      <a16:colId xmlns:a16="http://schemas.microsoft.com/office/drawing/2014/main" val="1925710637"/>
                    </a:ext>
                  </a:extLst>
                </a:gridCol>
                <a:gridCol w="2822976">
                  <a:extLst>
                    <a:ext uri="{9D8B030D-6E8A-4147-A177-3AD203B41FA5}">
                      <a16:colId xmlns:a16="http://schemas.microsoft.com/office/drawing/2014/main" val="2944434868"/>
                    </a:ext>
                  </a:extLst>
                </a:gridCol>
                <a:gridCol w="1663572">
                  <a:extLst>
                    <a:ext uri="{9D8B030D-6E8A-4147-A177-3AD203B41FA5}">
                      <a16:colId xmlns:a16="http://schemas.microsoft.com/office/drawing/2014/main" val="147762468"/>
                    </a:ext>
                  </a:extLst>
                </a:gridCol>
                <a:gridCol w="2577022">
                  <a:extLst>
                    <a:ext uri="{9D8B030D-6E8A-4147-A177-3AD203B41FA5}">
                      <a16:colId xmlns:a16="http://schemas.microsoft.com/office/drawing/2014/main" val="3252038062"/>
                    </a:ext>
                  </a:extLst>
                </a:gridCol>
              </a:tblGrid>
              <a:tr h="470996">
                <a:tc>
                  <a:txBody>
                    <a:bodyPr/>
                    <a:lstStyle/>
                    <a:p>
                      <a:r>
                        <a:rPr lang="en-US" dirty="0"/>
                        <a:t>Campaign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Campaign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Geography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Audience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632824"/>
                  </a:ext>
                </a:extLst>
              </a:tr>
              <a:tr h="470996">
                <a:tc>
                  <a:txBody>
                    <a:bodyPr/>
                    <a:lstStyle/>
                    <a:p>
                      <a:r>
                        <a:rPr lang="en-US" dirty="0"/>
                        <a:t>Campaign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SHU_6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Area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Educators and Principals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583511"/>
                  </a:ext>
                </a:extLst>
              </a:tr>
              <a:tr h="470996">
                <a:tc>
                  <a:txBody>
                    <a:bodyPr/>
                    <a:lstStyle/>
                    <a:p>
                      <a:r>
                        <a:rPr lang="en-US" dirty="0"/>
                        <a:t>Campaign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SHU_3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Area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758864"/>
                  </a:ext>
                </a:extLst>
              </a:tr>
              <a:tr h="470996">
                <a:tc>
                  <a:txBody>
                    <a:bodyPr/>
                    <a:lstStyle/>
                    <a:p>
                      <a:r>
                        <a:rPr lang="en-US" dirty="0"/>
                        <a:t>Campaign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SHU_Students</a:t>
                      </a:r>
                      <a:r>
                        <a:rPr lang="en-US" dirty="0"/>
                        <a:t> (Australia)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Australia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153744"/>
                  </a:ext>
                </a:extLst>
              </a:tr>
              <a:tr h="470996">
                <a:tc>
                  <a:txBody>
                    <a:bodyPr/>
                    <a:lstStyle/>
                    <a:p>
                      <a:r>
                        <a:rPr lang="en-US" dirty="0"/>
                        <a:t>Campaign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SHU_Students</a:t>
                      </a:r>
                      <a:r>
                        <a:rPr lang="en-US" dirty="0"/>
                        <a:t> (Canada)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6653641"/>
                  </a:ext>
                </a:extLst>
              </a:tr>
              <a:tr h="470996">
                <a:tc>
                  <a:txBody>
                    <a:bodyPr/>
                    <a:lstStyle/>
                    <a:p>
                      <a:r>
                        <a:rPr lang="en-US" dirty="0"/>
                        <a:t>Campaign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SHU_Students</a:t>
                      </a:r>
                      <a:r>
                        <a:rPr lang="en-US" dirty="0"/>
                        <a:t> (Ghana)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Ghana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378538"/>
                  </a:ext>
                </a:extLst>
              </a:tr>
            </a:tbl>
          </a:graphicData>
        </a:graphic>
      </p:graphicFrame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8557DF-81CB-CA0B-F445-292E7963617C}"/>
              </a:ext>
            </a:extLst>
          </p:cNvPr>
          <p:cNvSpPr txBox="1">
            <a:spLocks/>
          </p:cNvSpPr>
          <p:nvPr/>
        </p:nvSpPr>
        <p:spPr>
          <a:xfrm>
            <a:off x="6542824" y="5080633"/>
            <a:ext cx="4526929" cy="10137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b="1" dirty="0">
                <a:ea typeface="Calibri"/>
                <a:cs typeface="Calibri"/>
              </a:rPr>
              <a:t>Area 2: </a:t>
            </a:r>
            <a:r>
              <a:rPr lang="en-US" dirty="0"/>
              <a:t>Australia, Canada, United Kingdom, Ghana, Niger, Nigeria, Nepal, Pakistan, Thailand, Taiwan</a:t>
            </a:r>
            <a:endParaRPr lang="en-US" b="1" dirty="0">
              <a:ea typeface="Calibri"/>
              <a:cs typeface="Calibri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C31440-F4D8-9D54-1DAE-0FA2F27E46B6}"/>
              </a:ext>
            </a:extLst>
          </p:cNvPr>
          <p:cNvSpPr txBox="1">
            <a:spLocks/>
          </p:cNvSpPr>
          <p:nvPr/>
        </p:nvSpPr>
        <p:spPr>
          <a:xfrm>
            <a:off x="1183207" y="5080632"/>
            <a:ext cx="4176733" cy="101374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b="1" dirty="0">
                <a:ea typeface="Calibri"/>
                <a:cs typeface="Calibri"/>
              </a:rPr>
              <a:t>Area 1: </a:t>
            </a:r>
            <a:r>
              <a:rPr lang="en-US" dirty="0"/>
              <a:t>Australia, Canada, United Kingdom, Ghana, Nigeria, Pakistan, United States</a:t>
            </a:r>
            <a:endParaRPr lang="en-US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9676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1319A-33A9-576E-F160-CC162B335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3A819-0172-5ACB-ED6E-61A053FAA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Superhero U Ad Campaigns 2/2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233A8BB-6EA1-B0A2-9859-3ECC61753C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591402"/>
              </p:ext>
            </p:extLst>
          </p:nvPr>
        </p:nvGraphicFramePr>
        <p:xfrm>
          <a:off x="1183207" y="1994870"/>
          <a:ext cx="9886546" cy="3296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2976">
                  <a:extLst>
                    <a:ext uri="{9D8B030D-6E8A-4147-A177-3AD203B41FA5}">
                      <a16:colId xmlns:a16="http://schemas.microsoft.com/office/drawing/2014/main" val="1925710637"/>
                    </a:ext>
                  </a:extLst>
                </a:gridCol>
                <a:gridCol w="2822976">
                  <a:extLst>
                    <a:ext uri="{9D8B030D-6E8A-4147-A177-3AD203B41FA5}">
                      <a16:colId xmlns:a16="http://schemas.microsoft.com/office/drawing/2014/main" val="2944434868"/>
                    </a:ext>
                  </a:extLst>
                </a:gridCol>
                <a:gridCol w="1663572">
                  <a:extLst>
                    <a:ext uri="{9D8B030D-6E8A-4147-A177-3AD203B41FA5}">
                      <a16:colId xmlns:a16="http://schemas.microsoft.com/office/drawing/2014/main" val="147762468"/>
                    </a:ext>
                  </a:extLst>
                </a:gridCol>
                <a:gridCol w="2577022">
                  <a:extLst>
                    <a:ext uri="{9D8B030D-6E8A-4147-A177-3AD203B41FA5}">
                      <a16:colId xmlns:a16="http://schemas.microsoft.com/office/drawing/2014/main" val="3252038062"/>
                    </a:ext>
                  </a:extLst>
                </a:gridCol>
              </a:tblGrid>
              <a:tr h="470996">
                <a:tc>
                  <a:txBody>
                    <a:bodyPr/>
                    <a:lstStyle/>
                    <a:p>
                      <a:r>
                        <a:rPr lang="en-US" dirty="0"/>
                        <a:t>Campaign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Campaign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Geography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Audience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632824"/>
                  </a:ext>
                </a:extLst>
              </a:tr>
              <a:tr h="470996">
                <a:tc>
                  <a:txBody>
                    <a:bodyPr/>
                    <a:lstStyle/>
                    <a:p>
                      <a:r>
                        <a:rPr lang="en-US" dirty="0"/>
                        <a:t>Campaign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SHU_Students</a:t>
                      </a:r>
                      <a:r>
                        <a:rPr lang="en-US" dirty="0"/>
                        <a:t> (India)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2197109"/>
                  </a:ext>
                </a:extLst>
              </a:tr>
              <a:tr h="470996">
                <a:tc>
                  <a:txBody>
                    <a:bodyPr/>
                    <a:lstStyle/>
                    <a:p>
                      <a:r>
                        <a:rPr lang="en-US" dirty="0"/>
                        <a:t>Campaign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SHU_Students</a:t>
                      </a:r>
                      <a:r>
                        <a:rPr lang="en-US" dirty="0"/>
                        <a:t> (Nepal)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583511"/>
                  </a:ext>
                </a:extLst>
              </a:tr>
              <a:tr h="470996">
                <a:tc>
                  <a:txBody>
                    <a:bodyPr/>
                    <a:lstStyle/>
                    <a:p>
                      <a:r>
                        <a:rPr lang="en-US" dirty="0"/>
                        <a:t>Campaign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SHU_Students</a:t>
                      </a:r>
                      <a:r>
                        <a:rPr lang="en-US" dirty="0"/>
                        <a:t> (Nigeria)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Nigeria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758864"/>
                  </a:ext>
                </a:extLst>
              </a:tr>
              <a:tr h="470996">
                <a:tc>
                  <a:txBody>
                    <a:bodyPr/>
                    <a:lstStyle/>
                    <a:p>
                      <a:r>
                        <a:rPr lang="en-US" dirty="0"/>
                        <a:t>Campaign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SHU_Students</a:t>
                      </a:r>
                      <a:r>
                        <a:rPr lang="en-US" dirty="0"/>
                        <a:t> (UAE)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153744"/>
                  </a:ext>
                </a:extLst>
              </a:tr>
              <a:tr h="470996">
                <a:tc>
                  <a:txBody>
                    <a:bodyPr/>
                    <a:lstStyle/>
                    <a:p>
                      <a:r>
                        <a:rPr lang="en-US" dirty="0"/>
                        <a:t>Campaign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SHU_Students</a:t>
                      </a:r>
                      <a:r>
                        <a:rPr lang="en-US" dirty="0"/>
                        <a:t> (UK)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6653641"/>
                  </a:ext>
                </a:extLst>
              </a:tr>
              <a:tr h="470996">
                <a:tc>
                  <a:txBody>
                    <a:bodyPr/>
                    <a:lstStyle/>
                    <a:p>
                      <a:r>
                        <a:rPr lang="en-US" dirty="0"/>
                        <a:t>Campaign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SHU_Students</a:t>
                      </a:r>
                      <a:r>
                        <a:rPr lang="en-US" dirty="0"/>
                        <a:t> (USA)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378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3611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CFF2B-AE25-B564-A594-A127FA52B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8C284F2-32ED-60C5-F8B8-E434055ADC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6523" y="1674178"/>
            <a:ext cx="3200400" cy="47856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CPC</a:t>
            </a:r>
            <a:r>
              <a:rPr lang="en-US" sz="2000" dirty="0"/>
              <a:t> and </a:t>
            </a:r>
            <a:r>
              <a:rPr lang="en-US" sz="2000" b="1" dirty="0"/>
              <a:t>CPR</a:t>
            </a:r>
            <a:r>
              <a:rPr lang="en-US" sz="2000" dirty="0"/>
              <a:t> are ratios of the </a:t>
            </a:r>
            <a:r>
              <a:rPr lang="en-US" sz="2000" b="1" dirty="0"/>
              <a:t>Cost</a:t>
            </a:r>
            <a:r>
              <a:rPr lang="en-US" sz="2000" dirty="0"/>
              <a:t> for campaign to </a:t>
            </a:r>
            <a:r>
              <a:rPr lang="en-US" sz="2000" b="1" dirty="0"/>
              <a:t>Clicks</a:t>
            </a:r>
            <a:r>
              <a:rPr lang="en-US" sz="2000" dirty="0"/>
              <a:t> and </a:t>
            </a:r>
            <a:r>
              <a:rPr lang="en-US" sz="2000" b="1" dirty="0"/>
              <a:t>Results</a:t>
            </a:r>
            <a:r>
              <a:rPr lang="en-US" sz="2000" dirty="0"/>
              <a:t> respectively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Result</a:t>
            </a:r>
            <a:r>
              <a:rPr lang="en-US" sz="2000" dirty="0"/>
              <a:t> in this case is referred to the </a:t>
            </a:r>
            <a:r>
              <a:rPr lang="en-US" sz="2000" b="1" dirty="0"/>
              <a:t>unique click-through</a:t>
            </a:r>
            <a:r>
              <a:rPr lang="en-US" sz="2000" dirty="0"/>
              <a:t> to get to the Superhero U website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Campaigns </a:t>
            </a:r>
            <a:r>
              <a:rPr lang="en-US" sz="2000" b="1" dirty="0"/>
              <a:t>3</a:t>
            </a:r>
            <a:r>
              <a:rPr lang="en-US" sz="2000" dirty="0"/>
              <a:t> and </a:t>
            </a:r>
            <a:r>
              <a:rPr lang="en-US" sz="2000" b="1" dirty="0"/>
              <a:t>10</a:t>
            </a:r>
            <a:r>
              <a:rPr lang="en-US" sz="2000" dirty="0"/>
              <a:t> hold the highest values for </a:t>
            </a:r>
            <a:r>
              <a:rPr lang="en-US" sz="2000" b="1" dirty="0"/>
              <a:t>Cost per Result (CPR)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Campaigns </a:t>
            </a:r>
            <a:r>
              <a:rPr lang="en-US" sz="2000" b="1" dirty="0"/>
              <a:t>3</a:t>
            </a:r>
            <a:r>
              <a:rPr lang="en-US" sz="2000" dirty="0"/>
              <a:t> and </a:t>
            </a:r>
            <a:r>
              <a:rPr lang="en-US" sz="2000" b="1" dirty="0"/>
              <a:t>10 </a:t>
            </a:r>
            <a:r>
              <a:rPr lang="en-US" sz="2000" dirty="0"/>
              <a:t>also hold the highest values for </a:t>
            </a:r>
            <a:r>
              <a:rPr lang="en-US" sz="2000" b="1" dirty="0"/>
              <a:t>Cost per Click (CPC)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DAFB9FC-A25A-F89F-E5A2-E4BE8A038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36848"/>
            <a:ext cx="3200400" cy="882749"/>
          </a:xfrm>
        </p:spPr>
        <p:txBody>
          <a:bodyPr>
            <a:normAutofit fontScale="90000"/>
          </a:bodyPr>
          <a:lstStyle/>
          <a:p>
            <a:r>
              <a:rPr lang="en-US" dirty="0"/>
              <a:t>Campaign Discontinuation</a:t>
            </a:r>
          </a:p>
        </p:txBody>
      </p:sp>
      <p:pic>
        <p:nvPicPr>
          <p:cNvPr id="10" name="Picture 9" descr="A graph with blue bars&#10;&#10;AI-generated content may be incorrect.">
            <a:extLst>
              <a:ext uri="{FF2B5EF4-FFF2-40B4-BE49-F238E27FC236}">
                <a16:creationId xmlns:a16="http://schemas.microsoft.com/office/drawing/2014/main" id="{53351EF6-E2BC-F1C1-CD85-2DACD87482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0790" y="0"/>
            <a:ext cx="8081210" cy="3295859"/>
          </a:xfrm>
          <a:prstGeom prst="rect">
            <a:avLst/>
          </a:prstGeom>
        </p:spPr>
      </p:pic>
      <p:pic>
        <p:nvPicPr>
          <p:cNvPr id="13" name="Picture 12" descr="A graph of blue and white bars&#10;&#10;AI-generated content may be incorrect.">
            <a:extLst>
              <a:ext uri="{FF2B5EF4-FFF2-40B4-BE49-F238E27FC236}">
                <a16:creationId xmlns:a16="http://schemas.microsoft.com/office/drawing/2014/main" id="{5E905EBA-F49C-B5E4-8DBB-4F2811ADF1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0791" y="3295859"/>
            <a:ext cx="8081210" cy="355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46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B93D2-D703-6D78-C268-445D1983A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80" y="5175115"/>
            <a:ext cx="10113264" cy="1326268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Campaign </a:t>
            </a:r>
            <a:r>
              <a:rPr lang="en-US" sz="2000" b="1" dirty="0"/>
              <a:t>3</a:t>
            </a:r>
            <a:r>
              <a:rPr lang="en-US" sz="2000" dirty="0"/>
              <a:t> and </a:t>
            </a:r>
            <a:r>
              <a:rPr lang="en-US" sz="2000" b="1" dirty="0"/>
              <a:t>10</a:t>
            </a:r>
            <a:r>
              <a:rPr lang="en-US" sz="2000" dirty="0"/>
              <a:t> have the highest values in terms of </a:t>
            </a:r>
            <a:r>
              <a:rPr lang="en-US" sz="2000" b="1" dirty="0"/>
              <a:t>Cost per Unique Click</a:t>
            </a:r>
            <a:r>
              <a:rPr lang="en-US" sz="2000" dirty="0"/>
              <a:t> of all age groups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Cost </a:t>
            </a:r>
            <a:r>
              <a:rPr lang="en-US" sz="2000" dirty="0"/>
              <a:t>in this context is the </a:t>
            </a:r>
            <a:r>
              <a:rPr lang="en-US" sz="2000" b="1" dirty="0"/>
              <a:t>amount spent </a:t>
            </a:r>
            <a:r>
              <a:rPr lang="en-US" sz="2000" dirty="0"/>
              <a:t>on the campaign</a:t>
            </a:r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4DF09D-8682-27D2-462E-7B9F6FB536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1" y="618008"/>
            <a:ext cx="12170939" cy="386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572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5F1CC-1887-1BE9-E0E6-31A4D4D82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FD1DC0-0F5E-2FAE-1C05-6B2FD671B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80" y="5175115"/>
            <a:ext cx="10113264" cy="1326268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Campaigns </a:t>
            </a:r>
            <a:r>
              <a:rPr lang="en-US" sz="2000" b="1" dirty="0"/>
              <a:t>3</a:t>
            </a:r>
            <a:r>
              <a:rPr lang="en-US" sz="2000" dirty="0"/>
              <a:t>, </a:t>
            </a:r>
            <a:r>
              <a:rPr lang="en-US" sz="2000" b="1" dirty="0"/>
              <a:t>9</a:t>
            </a:r>
            <a:r>
              <a:rPr lang="en-US" sz="2000" dirty="0"/>
              <a:t> and </a:t>
            </a:r>
            <a:r>
              <a:rPr lang="en-US" sz="2000" b="1" dirty="0"/>
              <a:t>10</a:t>
            </a:r>
            <a:r>
              <a:rPr lang="en-US" sz="2000" dirty="0"/>
              <a:t> have the lowest values for </a:t>
            </a:r>
            <a:r>
              <a:rPr lang="en-US" sz="2000" b="1" dirty="0"/>
              <a:t>Unique Link Click Rate (ULCR)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ULCR here refers to </a:t>
            </a:r>
            <a:r>
              <a:rPr lang="en-US" sz="2000" b="1" dirty="0"/>
              <a:t>total number of unique link clicks / total number of impressions</a:t>
            </a:r>
          </a:p>
        </p:txBody>
      </p:sp>
      <p:pic>
        <p:nvPicPr>
          <p:cNvPr id="3" name="Picture 2" descr="A graph with a line&#10;&#10;AI-generated content may be incorrect.">
            <a:extLst>
              <a:ext uri="{FF2B5EF4-FFF2-40B4-BE49-F238E27FC236}">
                <a16:creationId xmlns:a16="http://schemas.microsoft.com/office/drawing/2014/main" id="{5D129839-D51D-8B38-3361-D0C54EF364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922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899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DB81E-9CD7-506C-49D0-69A12F4D6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8A834-4456-8E6E-C7A0-91DB0A08C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6379F98-8023-193E-D695-5941EE00383C}"/>
              </a:ext>
            </a:extLst>
          </p:cNvPr>
          <p:cNvSpPr/>
          <p:nvPr/>
        </p:nvSpPr>
        <p:spPr>
          <a:xfrm>
            <a:off x="2198451" y="2017514"/>
            <a:ext cx="3180945" cy="3044757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Worst Performance</a:t>
            </a:r>
            <a:endParaRPr lang="en-US" b="1" dirty="0"/>
          </a:p>
          <a:p>
            <a:pPr algn="ctr"/>
            <a:endParaRPr lang="en-US" dirty="0"/>
          </a:p>
          <a:p>
            <a:pPr algn="ctr"/>
            <a:r>
              <a:rPr lang="en-US" sz="2000" dirty="0"/>
              <a:t>Campaigns</a:t>
            </a:r>
          </a:p>
          <a:p>
            <a:pPr algn="ctr"/>
            <a:r>
              <a:rPr lang="en-US" sz="2000" dirty="0"/>
              <a:t>3 and 10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12EC6B5-BDA1-F1DD-292C-D07A3C6D76EF}"/>
              </a:ext>
            </a:extLst>
          </p:cNvPr>
          <p:cNvSpPr/>
          <p:nvPr/>
        </p:nvSpPr>
        <p:spPr>
          <a:xfrm>
            <a:off x="6812604" y="2050587"/>
            <a:ext cx="3180945" cy="3044757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Best Performance</a:t>
            </a:r>
            <a:endParaRPr lang="en-US" b="1" dirty="0"/>
          </a:p>
          <a:p>
            <a:pPr algn="ctr"/>
            <a:endParaRPr lang="en-US" dirty="0"/>
          </a:p>
          <a:p>
            <a:pPr algn="ctr"/>
            <a:r>
              <a:rPr lang="en-US" sz="2000" dirty="0"/>
              <a:t>Campaigns</a:t>
            </a:r>
          </a:p>
          <a:p>
            <a:pPr algn="ctr"/>
            <a:r>
              <a:rPr lang="en-US" sz="2000" dirty="0"/>
              <a:t>2, 6 and 8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5761348-9CD6-7CB2-9950-BA07FBE01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5319082"/>
            <a:ext cx="10058400" cy="71538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Campaign </a:t>
            </a:r>
            <a:r>
              <a:rPr lang="en-US" b="1" dirty="0"/>
              <a:t>9</a:t>
            </a:r>
            <a:r>
              <a:rPr lang="en-US" dirty="0"/>
              <a:t> also performed </a:t>
            </a:r>
            <a:r>
              <a:rPr lang="en-US" b="1" dirty="0"/>
              <a:t>relatively poor</a:t>
            </a:r>
            <a:r>
              <a:rPr lang="en-US" dirty="0"/>
              <a:t> in terms of </a:t>
            </a:r>
            <a:r>
              <a:rPr lang="en-US" b="1" dirty="0"/>
              <a:t>overall impression metrics</a:t>
            </a:r>
            <a:r>
              <a:rPr lang="en-US" dirty="0"/>
              <a:t>. However, since it proved to be </a:t>
            </a:r>
            <a:r>
              <a:rPr lang="en-US" b="1" dirty="0"/>
              <a:t>cost effective</a:t>
            </a:r>
            <a:r>
              <a:rPr lang="en-US" dirty="0"/>
              <a:t>, campaign 9 is </a:t>
            </a:r>
            <a:r>
              <a:rPr lang="en-US" b="1" dirty="0"/>
              <a:t>allowed to operate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74500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349</TotalTime>
  <Words>501</Words>
  <Application>Microsoft Office PowerPoint</Application>
  <PresentationFormat>Widescreen</PresentationFormat>
  <Paragraphs>108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Retrospect</vt:lpstr>
      <vt:lpstr>Superhero U: Campaign Analysis</vt:lpstr>
      <vt:lpstr>Team Introduction</vt:lpstr>
      <vt:lpstr>Superhero U</vt:lpstr>
      <vt:lpstr>Facebook Ads</vt:lpstr>
      <vt:lpstr>Superhero U Ad Campaigns 1/2</vt:lpstr>
      <vt:lpstr>Superhero U Ad Campaigns 2/2</vt:lpstr>
      <vt:lpstr>Campaign Discontinuation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Ahsan</dc:creator>
  <cp:lastModifiedBy>Ali Ahsan</cp:lastModifiedBy>
  <cp:revision>362</cp:revision>
  <dcterms:created xsi:type="dcterms:W3CDTF">2025-08-22T17:10:53Z</dcterms:created>
  <dcterms:modified xsi:type="dcterms:W3CDTF">2025-09-03T15:40:46Z</dcterms:modified>
</cp:coreProperties>
</file>